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064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500" b="1">
                <a:solidFill>
                  <a:srgbClr val="1E2761"/>
                </a:solidFill>
                <a:latin typeface="Calibri"/>
              </a:rPr>
              <a:t>MEDE · CP1 · ALINIERE ȘI SURSE · SĂPTĂMÂNA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77240"/>
            <a:ext cx="11064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2000" b="1">
                <a:solidFill>
                  <a:srgbClr val="111827"/>
                </a:solidFill>
                <a:latin typeface="Calibri"/>
              </a:rPr>
              <a:t>Alexandru Neagu · U8 · Cauzele inundațiilor europene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25880"/>
            <a:ext cx="111099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600" b="1">
                <a:solidFill>
                  <a:srgbClr val="1F2937"/>
                </a:solidFill>
                <a:latin typeface="Calibri"/>
              </a:rPr>
              <a:t>Întrebarea mea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Q8.1 — Inundațiile din Europa se grupează după cauză (ploaie intensă / fluvial / topire)?</a:t>
            </a:r>
          </a:p>
          <a:p>
            <a:pPr>
              <a:spcAft>
                <a:spcPts val="0"/>
              </a:spcAft>
            </a:pPr>
          </a:p>
          <a:p>
            <a:pPr>
              <a:spcAft>
                <a:spcPts val="200"/>
              </a:spcAft>
            </a:pPr>
            <a:r>
              <a:rPr sz="1600" b="1">
                <a:solidFill>
                  <a:srgbClr val="1F2937"/>
                </a:solidFill>
                <a:latin typeface="Calibri"/>
              </a:rPr>
              <a:t>Unitatea și sursele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Evenimentul de inundație (1 rând = 1 activare EMS Flood din Europa) → Copernicus EMS + ERA5-Land (precipitații 1/3/7/30 zile, topire, umiditatea solului); pas de timp: ferestre de 1–30 zile înainte de eveniment.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Cheia comună: codul EMSR + data evenimentului + celula ERA5-Land din centroid.</a:t>
            </a:r>
          </a:p>
          <a:p>
            <a:pPr>
              <a:spcAft>
                <a:spcPts val="0"/>
              </a:spcAft>
            </a:pPr>
          </a:p>
          <a:p>
            <a:pPr>
              <a:spcAft>
                <a:spcPts val="200"/>
              </a:spcAft>
            </a:pPr>
            <a:r>
              <a:rPr sz="1600" b="1">
                <a:solidFill>
                  <a:srgbClr val="1F2937"/>
                </a:solidFill>
                <a:latin typeface="Calibri"/>
              </a:rPr>
              <a:t>Cui îi folosește răspunsul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Hidrologului / planificatorului de risc: ce înseamnă „clusterul 3” — de ex. evenimente cu sol saturat și topire, unde avertizarea se bazează pe zăpadă, nu pe ploaie.</a:t>
            </a:r>
          </a:p>
          <a:p>
            <a:pPr>
              <a:spcAft>
                <a:spcPts val="0"/>
              </a:spcAft>
            </a:pPr>
          </a:p>
          <a:p>
            <a:pPr>
              <a:spcAft>
                <a:spcPts val="200"/>
              </a:spcAft>
            </a:pPr>
            <a:r>
              <a:rPr sz="1600" b="1">
                <a:solidFill>
                  <a:srgbClr val="1F2937"/>
                </a:solidFill>
                <a:latin typeface="Calibri"/>
              </a:rPr>
              <a:t>Unde am ajuns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Etapa curentă: aliniere (surse → un tabel, 1 rând = 1 eveniment)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Făcut de la CP0: pipeline-ul rulează pe ambele surse; X are 20 × 8; acoperire 100.0% din 20 evenimente europene; data card pe 2 surse; SOA cu 10 articole.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Ce am schimbat față de plan: nimic.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Următorul pas: CP2 — matricea X documentată și prima proiecție PCA.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19088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100" b="0">
                <a:solidFill>
                  <a:srgbClr val="4B5563"/>
                </a:solidFill>
                <a:latin typeface="Calibri"/>
              </a:rPr>
              <a:t>Slide 1 din 3 · Fișier Moodle: CP1_U8.pdf · Prezentare: 3 minute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064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500" b="1">
                <a:solidFill>
                  <a:srgbClr val="1E2761"/>
                </a:solidFill>
                <a:latin typeface="Calibri"/>
              </a:rPr>
              <a:t>DOVADA ETAPEI · DATA CARD PE SCURT + STATE OF THE ART (10 ARTICOLE)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77240"/>
            <a:ext cx="11064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500" b="1">
                <a:solidFill>
                  <a:srgbClr val="111827"/>
                </a:solidFill>
                <a:latin typeface="Calibri"/>
              </a:rPr>
              <a:t>Din 20 inundații EMS din Europa, 20 (100.0%) supraviețuiesc alinierii cu ERA5-Land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111556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400" b="1">
                <a:solidFill>
                  <a:srgbClr val="1F2937"/>
                </a:solidFill>
                <a:latin typeface="Calibri"/>
              </a:rPr>
              <a:t>S1 · Copernicus EMS, activări Rapid Mapping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Flood (EMSR), Europa · 2024-05-14 - 2024-12-30 · 1 rând = 1 eveniment (AOI vectorial) · lon/lat, UTC · goluri: 0 fără dată/geometrie · licență: conform termenilor oficiali Copernicus EMS.</a:t>
            </a:r>
          </a:p>
          <a:p>
            <a:pPr>
              <a:spcAft>
                <a:spcPts val="0"/>
              </a:spcAft>
            </a:pPr>
          </a:p>
          <a:p>
            <a:pPr>
              <a:spcAft>
                <a:spcPts val="100"/>
              </a:spcAft>
            </a:pPr>
            <a:r>
              <a:rPr sz="1400" b="1">
                <a:solidFill>
                  <a:srgbClr val="1F2937"/>
                </a:solidFill>
                <a:latin typeface="Calibri"/>
              </a:rPr>
              <a:t>S2 · ERA5-Land hourly (C3S / CDS)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tp, snowmelt, swvl1 · 0,1° (~9 km), 00:00 UTC → total zilnic · mm, m³/m³ · goluri: 0 evenimente incomplete · licență Copernicus.</a:t>
            </a:r>
          </a:p>
          <a:p>
            <a:pPr>
              <a:spcAft>
                <a:spcPts val="0"/>
              </a:spcAft>
            </a:pPr>
          </a:p>
          <a:p>
            <a:pPr>
              <a:spcAft>
                <a:spcPts val="100"/>
              </a:spcAft>
            </a:pPr>
            <a:r>
              <a:rPr sz="1200" b="1">
                <a:solidFill>
                  <a:srgbClr val="1F2937"/>
                </a:solidFill>
                <a:latin typeface="Calibri"/>
              </a:rPr>
              <a:t>Articol | Date / surse | Metodă | Metrică | Rezultat publicat (nu propriu)</a:t>
            </a:r>
          </a:p>
          <a:p>
            <a:pPr>
              <a:spcAft>
                <a:spcPts val="0"/>
              </a:spcAft>
            </a:pPr>
            <a:r>
              <a:rPr sz="1100" b="0">
                <a:solidFill>
                  <a:srgbClr val="1F2937"/>
                </a:solidFill>
                <a:latin typeface="Calibri"/>
              </a:rPr>
              <a:t>1. Stein et al. (2020) | 113 635 ev., 4 155 bazine | arbore de decizie, 5 procese | robustețe + evaluare | exces de ploaie dominant; variabil în bazin</a:t>
            </a:r>
          </a:p>
          <a:p>
            <a:pPr>
              <a:spcAft>
                <a:spcPts val="0"/>
              </a:spcAft>
            </a:pPr>
            <a:r>
              <a:rPr sz="1100" b="0">
                <a:solidFill>
                  <a:srgbClr val="1F2937"/>
                </a:solidFill>
                <a:latin typeface="Calibri"/>
              </a:rPr>
              <a:t>2. Blöschl et al. (2017) | 4 262 stații, 38 țări EU | momentul maximului; Theil–Sen | trend zile/deceniu | −13 … +9 zile/deceniu</a:t>
            </a:r>
          </a:p>
          <a:p>
            <a:pPr>
              <a:spcAft>
                <a:spcPts val="0"/>
              </a:spcAft>
            </a:pPr>
            <a:r>
              <a:rPr sz="1100" b="0">
                <a:solidFill>
                  <a:srgbClr val="1F2937"/>
                </a:solidFill>
                <a:latin typeface="Calibri"/>
              </a:rPr>
              <a:t>3. Hall &amp; Blöschl (2018) | 4 105 stații EU | clustere pe sezonalitate | — | 6 regiuni cu sezoane distincte</a:t>
            </a:r>
          </a:p>
          <a:p>
            <a:pPr>
              <a:spcAft>
                <a:spcPts val="0"/>
              </a:spcAft>
            </a:pPr>
            <a:r>
              <a:rPr sz="1100" b="0">
                <a:solidFill>
                  <a:srgbClr val="1F2937"/>
                </a:solidFill>
                <a:latin typeface="Calibri"/>
              </a:rPr>
              <a:t>4. Berghuijs et al. (2016) | 420 bazine SUA | mecanisme dominante | — | sol umed, topire &gt; ploaie singură</a:t>
            </a:r>
          </a:p>
          <a:p>
            <a:pPr>
              <a:spcAft>
                <a:spcPts val="0"/>
              </a:spcAft>
            </a:pPr>
            <a:r>
              <a:rPr sz="1100" b="0">
                <a:solidFill>
                  <a:srgbClr val="1F2937"/>
                </a:solidFill>
                <a:latin typeface="Calibri"/>
              </a:rPr>
              <a:t>5. Stein et al. (2021) | 671 bazine SUA | random forest + ALE | R² bazine nemăsurate | R² 0,45–0,9; clima domină</a:t>
            </a:r>
          </a:p>
          <a:p>
            <a:pPr>
              <a:spcAft>
                <a:spcPts val="0"/>
              </a:spcAft>
            </a:pPr>
            <a:r>
              <a:rPr sz="1100" b="0">
                <a:solidFill>
                  <a:srgbClr val="1F2937"/>
                </a:solidFill>
                <a:latin typeface="Calibri"/>
              </a:rPr>
              <a:t>6. Kemter et al. (2020) | 3 872 stații EU | clasif. pe meteo antecedent | Spearman | ρ&gt;0 la 95% din stații</a:t>
            </a:r>
          </a:p>
          <a:p>
            <a:pPr>
              <a:spcAft>
                <a:spcPts val="0"/>
              </a:spcAft>
            </a:pPr>
            <a:r>
              <a:rPr sz="1100" b="0">
                <a:solidFill>
                  <a:srgbClr val="1F2937"/>
                </a:solidFill>
                <a:latin typeface="Calibri"/>
              </a:rPr>
              <a:t>7. Bertola et al. (2021) | 2 370 stații EU | Gumbel regional, bayesian | elasticități | NV: ploaie; E: topire; S: ambele</a:t>
            </a:r>
          </a:p>
          <a:p>
            <a:pPr>
              <a:spcAft>
                <a:spcPts val="0"/>
              </a:spcAft>
            </a:pPr>
            <a:r>
              <a:rPr sz="1100" b="0">
                <a:solidFill>
                  <a:srgbClr val="1F2937"/>
                </a:solidFill>
                <a:latin typeface="Calibri"/>
              </a:rPr>
              <a:t>8. Tarasova et al. (2019) | review clasificări cauzale | sinteză critică | — | fără definiție unificată</a:t>
            </a:r>
          </a:p>
          <a:p>
            <a:pPr>
              <a:spcAft>
                <a:spcPts val="0"/>
              </a:spcAft>
            </a:pPr>
            <a:r>
              <a:rPr sz="1100" b="0">
                <a:solidFill>
                  <a:srgbClr val="1F2937"/>
                </a:solidFill>
                <a:latin typeface="Calibri"/>
              </a:rPr>
              <a:t>9. Bonafilia et al. (2020) | S1, 4 831 chipuri, 11 ev. | FCNN vs. prag | 4 variante de etichete | FCNN pe etichete S2 cel mai bun</a:t>
            </a:r>
          </a:p>
          <a:p>
            <a:pPr>
              <a:spcAft>
                <a:spcPts val="0"/>
              </a:spcAft>
            </a:pPr>
            <a:r>
              <a:rPr sz="1100" b="0">
                <a:solidFill>
                  <a:srgbClr val="1F2937"/>
                </a:solidFill>
                <a:latin typeface="Calibri"/>
              </a:rPr>
              <a:t>10. Muñoz-Sabater et al. (2021) | ERA5-Land, 9 km | reanaliză orară | vs. in-situ | zăpadă: performanță mixtă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19088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000" b="0">
                <a:solidFill>
                  <a:srgbClr val="4B5563"/>
                </a:solidFill>
                <a:latin typeface="Calibri"/>
              </a:rPr>
              <a:t>Slide 2 din 3 · Rezultate publicate, nu proprii; seturi diferite nu se compară numeric · ALE = efecte locale acumulate; FCNN = rețea convoluțională; detalii în SOA_U8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064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500" b="1">
                <a:solidFill>
                  <a:srgbClr val="1E2761"/>
                </a:solidFill>
                <a:latin typeface="Calibri"/>
              </a:rPr>
              <a:t>BLOCAJE ȘI URMĂTOARELE DOUĂ SĂPTĂMÂNI · CP2: 4 NOIEMBRIE 2026, 00:00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68680"/>
            <a:ext cx="1115568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600" b="1">
                <a:solidFill>
                  <a:srgbClr val="1F2937"/>
                </a:solidFill>
                <a:latin typeface="Calibri"/>
              </a:rPr>
              <a:t>Blocaje și planul până la CP2</a:t>
            </a:r>
          </a:p>
          <a:p>
            <a:pPr>
              <a:spcAft>
                <a:spcPts val="100"/>
              </a:spcAft>
            </a:pPr>
            <a:r>
              <a:rPr sz="1400" b="1">
                <a:solidFill>
                  <a:srgbClr val="1F2937"/>
                </a:solidFill>
                <a:latin typeface="Calibri"/>
              </a:rPr>
              <a:t>Blocaje / riscuri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937"/>
                </a:solidFill>
                <a:latin typeface="Calibri"/>
              </a:rPr>
              <a:t>1. EMS nu e un eșantion aleator (doar utilizatori autorizați cer activări) → raportez acoperirea pe țări și nu generalizez la „toate inundațiile Europei”.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937"/>
                </a:solidFill>
                <a:latin typeface="Calibri"/>
              </a:rPr>
              <a:t>2. Fără etichetă de cauză în EMS → subtipul și textul rapoartelor servesc doar la interpretare → am nevoie de acordul titularului.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937"/>
                </a:solidFill>
                <a:latin typeface="Calibri"/>
              </a:rPr>
              <a:t>3. ERA5-Land are ~9 km, iar AOI-urile pot fi mai mici → centroid vs. media pe AOI; testez la CP2.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937"/>
                </a:solidFill>
                <a:latin typeface="Calibri"/>
              </a:rPr>
              <a:t>4. Evenimente scoase din X: 0 (motive: fără dată / geometrie / meteo incompletă) → am păstrat regula strictă de validare.</a:t>
            </a:r>
          </a:p>
          <a:p>
            <a:pPr>
              <a:spcAft>
                <a:spcPts val="0"/>
              </a:spcAft>
            </a:pPr>
          </a:p>
          <a:p>
            <a:pPr>
              <a:spcAft>
                <a:spcPts val="100"/>
              </a:spcAft>
            </a:pPr>
            <a:r>
              <a:rPr sz="1400" b="1">
                <a:solidFill>
                  <a:srgbClr val="1F2937"/>
                </a:solidFill>
                <a:latin typeface="Calibri"/>
              </a:rPr>
              <a:t>Planul pe 2 săptămâni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937"/>
                </a:solidFill>
                <a:latin typeface="Calibri"/>
              </a:rPr>
              <a:t>Săpt. 5: matricea X documentată (n × d, cu proveniența fiecărei trăsături); analiză univariată și bivariată; decid fereastra (end-offset 0 vs. 1) și punctul vs. media pe AOI.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937"/>
                </a:solidFill>
                <a:latin typeface="Calibri"/>
              </a:rPr>
              <a:t>Săpt. 6: prima proiecție PCA (scree, loadings) pe X scalat, ca baseline; README reproductibil.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937"/>
                </a:solidFill>
                <a:latin typeface="Calibri"/>
              </a:rPr>
              <a:t>La CP2 arăt: matricea X + scree/loadings. Secțiunea de articol: Methods — trăsături.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937"/>
                </a:solidFill>
                <a:latin typeface="Calibri"/>
              </a:rPr>
              <a:t>Comparația pregătită: S1 singur vs. S1 + teren + meteo (CP3–CP4).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937"/>
                </a:solidFill>
                <a:latin typeface="Calibri"/>
              </a:rPr>
              <a:t>Repo: [https://github.com/utilizator/MEDE-U8-flood-causes]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19088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000" b="0">
                <a:solidFill>
                  <a:srgbClr val="4B5563"/>
                </a:solidFill>
                <a:latin typeface="Calibri"/>
              </a:rPr>
              <a:t>Slide 3 din 3 · Întrebare pentru profesor: se acceptă subtipul EMS ca etichetă slabă, folosită doar la interpretare?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